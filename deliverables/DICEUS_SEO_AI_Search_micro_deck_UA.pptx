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Бал пріоритету</c:v>
                </c:pt>
              </c:strCache>
            </c:strRef>
          </c:tx>
          <c:spPr>
            <a:solidFill>
              <a:srgbClr val="9AA5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Загальні IT-послуги</c:v>
                  </c:pt>
                  <c:pt idx="1">
                    <c:v>Розробка для страхування</c:v>
                  </c:pt>
                  <c:pt idx="2">
                    <c:v>Управління збитками (claims)</c:v>
                  </c:pt>
                  <c:pt idx="3">
                    <c:v>MGA / програмні адміністратори</c:v>
                  </c:pt>
                  <c:pt idx="4">
                    <c:v>Групове страхування</c:v>
                  </c:pt>
                  <c:pt idx="5">
                    <c:v>Сховище даних і аналітика</c:v>
                  </c:pt>
                  <c:pt idx="6">
                    <c:v>Брокерські та клієнтські портали</c:v>
                  </c:pt>
                  <c:pt idx="7">
                    <c:v>Self-insured і пули</c:v>
                  </c:pt>
                  <c:pt idx="8">
                    <c:v>Policy administration (PAS)</c:v>
                  </c:pt>
                  <c:pt idx="9">
                    <c:v>Страховий GL / облік</c:v>
                  </c:pt>
                  <c:pt idx="10">
                    <c:v>Risk retention groups (RRG)</c:v>
                  </c:pt>
                  <c:pt idx="11">
                    <c:v>Captive: страхування й управління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1.45</c:v>
                </c:pt>
                <c:pt idx="1">
                  <c:v>2.4</c:v>
                </c:pt>
                <c:pt idx="2">
                  <c:v>2.95</c:v>
                </c:pt>
                <c:pt idx="3">
                  <c:v>3.1</c:v>
                </c:pt>
                <c:pt idx="4">
                  <c:v>3.25</c:v>
                </c:pt>
                <c:pt idx="5">
                  <c:v>3.35</c:v>
                </c:pt>
                <c:pt idx="6">
                  <c:v>3.35</c:v>
                </c:pt>
                <c:pt idx="7">
                  <c:v>3.6</c:v>
                </c:pt>
                <c:pt idx="8">
                  <c:v>3.75</c:v>
                </c:pt>
                <c:pt idx="9">
                  <c:v>3.8</c:v>
                </c:pt>
                <c:pt idx="10">
                  <c:v>4.4</c:v>
                </c:pt>
                <c:pt idx="11">
                  <c:v>4.6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Запитів із брендом</c:v>
                </c:pt>
              </c:strCache>
            </c:strRef>
          </c:tx>
          <c:spPr>
            <a:solidFill>
              <a:srgbClr val="9AA5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DICEUS</c:v>
                  </c:pt>
                  <c:pt idx="1">
                    <c:v>Origami Risk</c:v>
                  </c:pt>
                  <c:pt idx="2">
                    <c:v>OneShield</c:v>
                  </c:pt>
                  <c:pt idx="3">
                    <c:v>AdvantageGo</c:v>
                  </c:pt>
                  <c:pt idx="4">
                    <c:v>BriteCore</c:v>
                  </c:pt>
                  <c:pt idx="5">
                    <c:v>Insurity</c:v>
                  </c:pt>
                  <c:pt idx="6">
                    <c:v>Duck Creek</c:v>
                  </c:pt>
                  <c:pt idx="7">
                    <c:v>Sapiens</c:v>
                  </c:pt>
                  <c:pt idx="8">
                    <c:v>Majesco</c:v>
                  </c:pt>
                  <c:pt idx="9">
                    <c:v>Guidewire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Мета: погодити напрям і перші 30 днів. Усі дані публічні; доступу до GSC, GA4 і CRM не було — це позначено в повних матеріалах (01-06).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Піраміда: головне — спочатку. 1) Безкоштовне виправлення захищає єдину територію, де DICEUS уже виграє. 2) Сайт і сутність бренду досі кажуть «аутсорс»; перепозиціонування — через головну, навігацію, посилання та schema, без міграції URL. 3) Alternative risk — територія з найвищою релевантністю × досяжністю; будуємо її як перший повний продуктовий кластер зі справжніми доказами.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Джерела: краул 815 URL (02_Current_State_Audit.xlsx: Summary, Layer_Links, Indexability); AI-панель (03 AI_Panel). Контекстні посилання — без ~300 посилань мегаменю на кожній сторінці. AI-панель = Claude з веб-пошуком, 1 прогін на запит, орієнтовно.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Поточні H2 взято дослівно з краулу (сайт англомовний, тому ліва колонка — оригінал). Пропозиція: title 'DICEUS - Insurance Software for Carriers, MGAs &amp; Captives'; H1 'Insurance software products for carriers, MGAs and alternative risk'. Поетапно: спершу передати загальний запит 'custom software development company' сторінці /services/custom-software-development/, перевірити GSC, потім змінити title головної (з планом відкату).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 конкурентів (data/competitor_teardown.md): Luzern Risk (4 анонімні відгуки з посадами + кейси з цифрами, напр. ~$55M премій; ручний llms.txt з моделлю flat rate; калькулятори), Riskonnect (іменна цитата Municipal Association of SC, buying guide + RFP-шаблон, FAQ, сторінка Platform Security з SOC 2 Type 2; G2 — 35 відгуків), Insly (тарифи за сегментами, ціни за запитом), Socotra (ISO 27001, SOC 1 T2; Gartner MQ Visionary 2021) / hx (SOC 2 + ISO 27001 на головній), Vertafore MGA Systems (schema SoftwareApplication + FAQPage). Факт-чек 6.10.2026: data/factcheck_external.md. Рейтинги DICEUS Gartner 5/5 і Clutch 4.9 — оцінки компанії як сервісного бізнесу, а не продуктів.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Джерело: data/pivot_case_studies.md, факт-чек: data/factcheck_external.md. Adacta продала підрозділ Microsoft Dynamics (~300 осіб) компанії BE-terna (2019); adacta.si робить 301 на adacta-fintech.com; визнання Gartner/Celent та інвестиція Volpi Capital (2021). Decerto: один домен з окремими меню Products і Services; компанія досі продає IT-аутсорс і розробку поряд зі страховими продуктами; окремий домен higson.io розпорошує вагу (без canonical). Majesco: виділено з Mastek (1.04.2014, лістинг 2015); у 2016 меню змішувало послуги розробки й тестування; сьогодні в головному меню немає Services; Gartner MQ Leader (2025), 375+ клієнтів (лютий 2026, після купівлі Vitech); куплено Thoma Bravo за ~$729M (2020). Exigen -&gt; EIS: послуги виділено, продукт перейменовано. Stratoflow -&gt; Openkoda: новий домен продукту, студія лишилася партнером із впровадження (працює лише для нового продукту без пошукової ваги). Damco: InsureEdge досі в меню Services — так виглядає DICEUS сьогодні.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 03_Search_Market_and_Opportunity.xlsx / Territories. Перевірка чутливості: з рівними вагами топ-2 (captive, RRG) і низ-2 (послуги) не змінюються. У PAS найбільший попит, але head-запити тримають Oracle/Guidewire/G2 — вигравати треба довгий хвіст (PAS для MGA / captive / RRG).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Luzern Risk залучив $45M і є AI-native captive-МЕНЕДЖЕРОМ: він конкурує з покупцями DICEUS, тому позиція «лише ПЗ для незалежних captive-менеджерів» — реальний клин. Origami і Riskonnect не згадують captive на головних; сторінка captive у Websure — ~250 слів. Авторитетного гайду «best captive management software» немає: за точним запитом лише каталоги (зокрема лістинги DICEUS на Capterra/GetApp) і слабкі агрегатори.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Хаб продуктів /insurance/solutions/, хаб Alternative Risk (сторінка AROP), сторінки покупців для MGA і self-insured груп. Captive-менеджерів, RRG і брокерів обслуговують їхні продуктові сторінки — щоб не канібалізувати самих себе. Загальні послуги лишаються, але виходять з головного меню, доки GSC/CRM не покажуть їхню цінність.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Приклади: Decerto — окремі меню Products і Services на одному домені; Luzern — навігація за сегментами; сторінка PAS у Riskonnect (іменна цитата, buying guide, RFP-шаблон, FAQ); тарифи Insly (ціни за запитом); сторінки безпеки Socotra/hx; schema SoftwareApplication у Vertafore.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Широкі відповіді збираються зі списків аналітиків (Celent, Datos), категорій G2/Capterra і листиклів — DICEUS немає в жодному. На «What is DICEUS?» модель видала омоніми (немає Wikidata). Лістинги з'являлися без назви бренду і з 0 відгуків. ChatGPT, Perplexity і Google AI Overviews ще не виміряні (панель v2 — дні 5-20).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Повний план із власниками, залежностями та Definition of Done: 05_90_Day_Execution_Plan.xlsx (32 задачі). Правила: базова лінія + журнал змін + перевірка через 14 днів + відкат для кожної ризикової зміни.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Поки ні: (1) видаляти ~190 сторінок загальних послуг — їхній трафік і ліди невідомі; (2) переносити продукти в нову папку /products/ — під загрозою вага й посилання з каталогів, доказів шкоди поточного шляху немає; (3) зливати дві сторінки captive чи перетини послуг — потрібні дані GSC «запит × сторінка».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Завершити рішенням: затвердити дні 1-30 (виправлення, доступ до даних, таблиця правди продуктів, перебудова сторінки captive).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DICEUS · план SEO та AI-пошуку · конфіденційно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аутсорс-студії до вендора страхового ПЗ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SEO та AI-пошуку для diceus.com: чому сайт не працює на продуктову стратегію, що змінити, і план на 90 днів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Докази: власний краул 815 URL · 44 видачі · AI-панель з 20 запитів · 13 конкурентів · 7 кейсів півоту   |   жовтень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Відповідь на одному слайді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Змінюємо вагу, а не URL: виправити, перепозиціонувати, першими виграти alternative risk</a:t>
            </a:r>
            <a:endParaRPr lang="en-US" sz="1500" dirty="0"/>
          </a:p>
        </p:txBody>
      </p:sp>
      <p:sp>
        <p:nvSpPr>
          <p:cNvPr id="5" name="col1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Виправити цього тижня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продуктові сторінки закриті noindex, серед них Captive Management і RRG — саме ті, де DICEUS уже виграє в пошуку та AI-відповідях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Прибрати зайвий тег · захист при деплої</a:t>
            </a:r>
            <a:endParaRPr lang="en-US" sz="1300" dirty="0"/>
          </a:p>
        </p:txBody>
      </p:sp>
      <p:sp>
        <p:nvSpPr>
          <p:cNvPr id="11" name="col2"/>
          <p:cNvSpPr/>
          <p:nvPr/>
        </p:nvSpPr>
        <p:spPr>
          <a:xfrm>
            <a:off x="429768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Перебудова: дні 1-60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1089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Головна, навігація та внутрішні посилання досі продають розробку на замовлення. Зробити продукти найсильнішими сторінками, послуги — другою лінією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· меню · посилання · schema</a:t>
            </a:r>
            <a:endParaRPr lang="en-US" sz="1300" dirty="0"/>
          </a:p>
        </p:txBody>
      </p:sp>
      <p:sp>
        <p:nvSpPr>
          <p:cNvPr id="17" name="col3"/>
          <p:cNvSpPr/>
          <p:nvPr/>
        </p:nvSpPr>
        <p:spPr>
          <a:xfrm>
            <a:off x="804672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20116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Alt-risk: дні 1-90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1089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ПЗ для captive і RRG можна виграти вже зараз: DICEUS №1 у нашій вибірці, категорію ніхто не займає. Додати докази, матеріали для покупців і факти для AI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Хаб · докази · відгуки · порівняння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Сьогодні сайт каже Google, покупцям і AI: «аутсорс»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П'ять виміряних симптомів (власний краул і панелі, 6 жовтня 2026)</a:t>
            </a:r>
            <a:endParaRPr lang="en-US" sz="1500" dirty="0"/>
          </a:p>
        </p:txBody>
      </p:sp>
      <p:sp>
        <p:nvSpPr>
          <p:cNvPr id="5" name="stat0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: 192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продуктових сторінок проти сторінок загальних послуг, експертиз і нестрахових галузей</a:t>
            </a:r>
            <a:endParaRPr lang="en-US" sz="1400" dirty="0"/>
          </a:p>
        </p:txBody>
      </p:sp>
      <p:sp>
        <p:nvSpPr>
          <p:cNvPr id="8" name="stat1"/>
          <p:cNvSpPr/>
          <p:nvPr/>
        </p:nvSpPr>
        <p:spPr>
          <a:xfrm>
            <a:off x="429768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vs 93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медіана посилань у тексті на продуктову сторінку проти сторінки загальної послуги</a:t>
            </a:r>
            <a:endParaRPr lang="en-US" sz="1400" dirty="0"/>
          </a:p>
        </p:txBody>
      </p:sp>
      <p:sp>
        <p:nvSpPr>
          <p:cNvPr id="11" name="stat2"/>
          <p:cNvSpPr/>
          <p:nvPr/>
        </p:nvSpPr>
        <p:spPr>
          <a:xfrm>
            <a:off x="804672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продуктові сторінки виключені noindex: Captive Mgmt, RRG, Group Health</a:t>
            </a:r>
            <a:endParaRPr lang="en-US" sz="1400" dirty="0"/>
          </a:p>
        </p:txBody>
      </p:sp>
      <p:sp>
        <p:nvSpPr>
          <p:cNvPr id="14" name="stat3"/>
          <p:cNvSpPr/>
          <p:nvPr/>
        </p:nvSpPr>
        <p:spPr>
          <a:xfrm>
            <a:off x="548640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16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небрендових AI-запитів, де названо DICEUS (лише captive і RRG)</a:t>
            </a:r>
            <a:endParaRPr lang="en-US" sz="1400" dirty="0"/>
          </a:p>
        </p:txBody>
      </p:sp>
      <p:sp>
        <p:nvSpPr>
          <p:cNvPr id="17" name="stat4"/>
          <p:cNvSpPr/>
          <p:nvPr/>
        </p:nvSpPr>
        <p:spPr>
          <a:xfrm>
            <a:off x="4297680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23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продуктових сторінок мають product schema; 0 відгуків у продуктових лістингах</a:t>
            </a:r>
            <a:endParaRPr lang="en-US" sz="1400" dirty="0"/>
          </a:p>
        </p:txBody>
      </p:sp>
      <p:sp>
        <p:nvSpPr>
          <p:cNvPr id="20" name="homepage-quote"/>
          <p:cNvSpPr/>
          <p:nvPr/>
        </p:nvSpPr>
        <p:spPr>
          <a:xfrm>
            <a:off x="8046720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головної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"Custom software development company"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оновлено 2022 · збіг title 0,99 зі сторінкою послуги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Головна розповідає спершу історію агенції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Поточний порядок H2 (краул) проти запропонованого: спершу продукти, сегменти й докази, послуги — одним блоком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(дослівно з сайту)</a:t>
            </a:r>
            <a:endParaRPr lang="en-US" sz="1400" dirty="0"/>
          </a:p>
        </p:txBody>
      </p:sp>
      <p:sp>
        <p:nvSpPr>
          <p:cNvPr id="6" name="ЗАРАЗ (дослівно з сайту)0"/>
          <p:cNvSpPr/>
          <p:nvPr/>
        </p:nvSpPr>
        <p:spPr>
          <a:xfrm>
            <a:off x="548640" y="210312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FDE7E1"/>
          </a:solidFill>
          <a:ln w="12700">
            <a:solidFill>
              <a:srgbClr val="FDE7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10312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Need a custom software solution?</a:t>
            </a:r>
            <a:endParaRPr lang="en-US" sz="1400" dirty="0"/>
          </a:p>
        </p:txBody>
      </p:sp>
      <p:sp>
        <p:nvSpPr>
          <p:cNvPr id="8" name="ЗАРАЗ (дослівно з сайту)1"/>
          <p:cNvSpPr/>
          <p:nvPr/>
        </p:nvSpPr>
        <p:spPr>
          <a:xfrm>
            <a:off x="548640" y="261518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1518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Ready-made insurance software</a:t>
            </a:r>
            <a:endParaRPr lang="en-US" sz="1400" dirty="0"/>
          </a:p>
        </p:txBody>
      </p:sp>
      <p:sp>
        <p:nvSpPr>
          <p:cNvPr id="10" name="ЗАРАЗ (дослівно з сайту)2"/>
          <p:cNvSpPr/>
          <p:nvPr/>
        </p:nvSpPr>
        <p:spPr>
          <a:xfrm>
            <a:off x="548640" y="312724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2724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Custom software services and solutions</a:t>
            </a:r>
            <a:endParaRPr lang="en-US" sz="1400" dirty="0"/>
          </a:p>
        </p:txBody>
      </p:sp>
      <p:sp>
        <p:nvSpPr>
          <p:cNvPr id="12" name="ЗАРАЗ (дослівно з сайту)3"/>
          <p:cNvSpPr/>
          <p:nvPr/>
        </p:nvSpPr>
        <p:spPr>
          <a:xfrm>
            <a:off x="548640" y="3639312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6393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Case studies · Focus industries · Clients</a:t>
            </a:r>
            <a:endParaRPr lang="en-US" sz="1400" dirty="0"/>
          </a:p>
        </p:txBody>
      </p:sp>
      <p:sp>
        <p:nvSpPr>
          <p:cNvPr id="14" name="ЗАРАЗ (дослівно з сайту)4"/>
          <p:cNvSpPr/>
          <p:nvPr/>
        </p:nvSpPr>
        <p:spPr>
          <a:xfrm>
            <a:off x="548640" y="4151376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513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Benefits of custom software solutions</a:t>
            </a:r>
            <a:endParaRPr lang="en-US" sz="1400" dirty="0"/>
          </a:p>
        </p:txBody>
      </p:sp>
      <p:sp>
        <p:nvSpPr>
          <p:cNvPr id="16" name="ЗАРАЗ (дослівно з сайту)5"/>
          <p:cNvSpPr/>
          <p:nvPr/>
        </p:nvSpPr>
        <p:spPr>
          <a:xfrm>
            <a:off x="548640" y="466344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663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Software development life cycle</a:t>
            </a:r>
            <a:endParaRPr lang="en-US" sz="1400" dirty="0"/>
          </a:p>
        </p:txBody>
      </p:sp>
      <p:sp>
        <p:nvSpPr>
          <p:cNvPr id="18" name="ЗАРАЗ (дослівно з сайту)6"/>
          <p:cNvSpPr/>
          <p:nvPr/>
        </p:nvSpPr>
        <p:spPr>
          <a:xfrm>
            <a:off x="548640" y="517550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1755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Why choose DICEUS as a business software development company?</a:t>
            </a:r>
            <a:endParaRPr lang="en-US" sz="1400" dirty="0"/>
          </a:p>
        </p:txBody>
      </p:sp>
      <p:sp>
        <p:nvSpPr>
          <p:cNvPr id="20" name="ЗАРАЗ (дослівно з сайту)7"/>
          <p:cNvSpPr/>
          <p:nvPr/>
        </p:nvSpPr>
        <p:spPr>
          <a:xfrm>
            <a:off x="548640" y="568756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68756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Tech stack · Team · Articles · FAQ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ПРОПОНУЄМО</a:t>
            </a:r>
            <a:endParaRPr lang="en-US" sz="1400" dirty="0"/>
          </a:p>
        </p:txBody>
      </p:sp>
      <p:sp>
        <p:nvSpPr>
          <p:cNvPr id="23" name="ПРОПОНУЄМО0"/>
          <p:cNvSpPr/>
          <p:nvPr/>
        </p:nvSpPr>
        <p:spPr>
          <a:xfrm>
            <a:off x="6217920" y="210312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210312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H1: страхове ПЗ для страховиків, MGA та alt-risk</a:t>
            </a:r>
            <a:endParaRPr lang="en-US" sz="1400" dirty="0"/>
          </a:p>
        </p:txBody>
      </p:sp>
      <p:sp>
        <p:nvSpPr>
          <p:cNvPr id="25" name="ПРОПОНУЄМО1"/>
          <p:cNvSpPr/>
          <p:nvPr/>
        </p:nvSpPr>
        <p:spPr>
          <a:xfrm>
            <a:off x="6217920" y="261518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261518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Оберіть шлях: captive · RRG · MGA · страховики</a:t>
            </a:r>
            <a:endParaRPr lang="en-US" sz="1400" dirty="0"/>
          </a:p>
        </p:txBody>
      </p:sp>
      <p:sp>
        <p:nvSpPr>
          <p:cNvPr id="27" name="ПРОПОНУЄМО2"/>
          <p:cNvSpPr/>
          <p:nvPr/>
        </p:nvSpPr>
        <p:spPr>
          <a:xfrm>
            <a:off x="6217920" y="312724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312724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Родини продуктів: core, дистрибуція, фінанси, alt-risk</a:t>
            </a:r>
            <a:endParaRPr lang="en-US" sz="1400" dirty="0"/>
          </a:p>
        </p:txBody>
      </p:sp>
      <p:sp>
        <p:nvSpPr>
          <p:cNvPr id="29" name="ПРОПОНУЄМО3"/>
          <p:cNvSpPr/>
          <p:nvPr/>
        </p:nvSpPr>
        <p:spPr>
          <a:xfrm>
            <a:off x="6217920" y="3639312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0" y="36393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Смуга доказів: результати, партнер VCIA, відгуки</a:t>
            </a:r>
            <a:endParaRPr lang="en-US" sz="1400" dirty="0"/>
          </a:p>
        </p:txBody>
      </p:sp>
      <p:sp>
        <p:nvSpPr>
          <p:cNvPr id="31" name="ПРОПОНУЄМО4"/>
          <p:cNvSpPr/>
          <p:nvPr/>
        </p:nvSpPr>
        <p:spPr>
          <a:xfrm>
            <a:off x="6217920" y="4151376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0" y="41513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Як впроваджуємо: тижні, безпека й довіра</a:t>
            </a:r>
            <a:endParaRPr lang="en-US" sz="1400" dirty="0"/>
          </a:p>
        </p:txBody>
      </p:sp>
      <p:sp>
        <p:nvSpPr>
          <p:cNvPr id="33" name="ПРОПОНУЄМО5"/>
          <p:cNvSpPr/>
          <p:nvPr/>
        </p:nvSpPr>
        <p:spPr>
          <a:xfrm>
            <a:off x="6217920" y="466344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663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Блок послуг: впровадження, модернізація, розробка</a:t>
            </a:r>
            <a:endParaRPr lang="en-US" sz="1400" dirty="0"/>
          </a:p>
        </p:txBody>
      </p:sp>
      <p:sp>
        <p:nvSpPr>
          <p:cNvPr id="35" name="ПРОПОНУЄМО6"/>
          <p:cNvSpPr/>
          <p:nvPr/>
        </p:nvSpPr>
        <p:spPr>
          <a:xfrm>
            <a:off x="6217920" y="517550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51755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Експертиза: гайди про captive, RRG і PAS</a:t>
            </a:r>
            <a:endParaRPr lang="en-US" sz="1400" dirty="0"/>
          </a:p>
        </p:txBody>
      </p:sp>
      <p:sp>
        <p:nvSpPr>
          <p:cNvPr id="37" name="ПРОПОНУЄМО7"/>
          <p:cNvSpPr/>
          <p:nvPr/>
        </p:nvSpPr>
        <p:spPr>
          <a:xfrm>
            <a:off x="6217920" y="568756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568756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Замовити демо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Продукти програють на доказах, а не на функціях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DICEUS найглибший опис функцій для captive, але немає сигналів довіри, які шукають покупці та AI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Luzern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Riskonnect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Socotra / hx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Глибина функцій для captive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Середня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Низька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Докази клієнтів з цифрами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Анонім. кейси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Іменна цитата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Іменні керівники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Логотипи + цифри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Відгуки саме про продукт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G2: 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Аналітики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Пояснена модель ціни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Тарифи без цін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Сторінка безпеки / довіри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Сторінка SOC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27001, SOC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Матеріали для покупця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Калькулятори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Гайд + RFP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Глосарій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Документація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+ product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Ручний llms.txt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Лише PAS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 / немає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Хто вже пройшов цей шлях і що спрацювало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Шість вендорів страхового ПЗ, які починали як сервісні компанії (публічні джерела, знімки Wayback)</a:t>
            </a:r>
            <a:endParaRPr lang="en-US" sz="1500" dirty="0"/>
          </a:p>
        </p:txBody>
      </p:sp>
      <p:sp>
        <p:nvSpPr>
          <p:cNvPr id="5" name="case0"/>
          <p:cNvSpPr/>
          <p:nvPr/>
        </p:nvSpPr>
        <p:spPr>
          <a:xfrm>
            <a:off x="54864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Adacta → AdInsure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Продала сервіси (2019), новий домен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відданість: далі визнання аналітиків та інвестиції</a:t>
            </a:r>
            <a:endParaRPr lang="en-US" sz="1300" dirty="0"/>
          </a:p>
        </p:txBody>
      </p:sp>
      <p:sp>
        <p:nvSpPr>
          <p:cNvPr id="9" name="case1"/>
          <p:cNvSpPr/>
          <p:nvPr/>
        </p:nvSpPr>
        <p:spPr>
          <a:xfrm>
            <a:off x="429768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Decerto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 + послуги на одному домені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Найближче до DICEUS: окремі меню Products і Services</a:t>
            </a:r>
            <a:endParaRPr lang="en-US" sz="1300" dirty="0"/>
          </a:p>
        </p:txBody>
      </p:sp>
      <p:sp>
        <p:nvSpPr>
          <p:cNvPr id="13" name="case2"/>
          <p:cNvSpPr/>
          <p:nvPr/>
        </p:nvSpPr>
        <p:spPr>
          <a:xfrm>
            <a:off x="804672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Mastek → Majesco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Виділення (2014), без Services у меню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MQ Leader, 375+ клієнтів, продано за ~$729M</a:t>
            </a:r>
            <a:endParaRPr lang="en-US" sz="1300" dirty="0"/>
          </a:p>
        </p:txBody>
      </p:sp>
      <p:sp>
        <p:nvSpPr>
          <p:cNvPr id="17" name="case3"/>
          <p:cNvSpPr/>
          <p:nvPr/>
        </p:nvSpPr>
        <p:spPr>
          <a:xfrm>
            <a:off x="548640" y="3291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Exigen → EIS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Послуги виділено, бренд перейменовано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Чітка продуктова ідентичність для покупців і аналітиків</a:t>
            </a:r>
            <a:endParaRPr lang="en-US" sz="1300" dirty="0"/>
          </a:p>
        </p:txBody>
      </p:sp>
      <p:sp>
        <p:nvSpPr>
          <p:cNvPr id="21" name="case4"/>
          <p:cNvSpPr/>
          <p:nvPr/>
        </p:nvSpPr>
        <p:spPr>
          <a:xfrm>
            <a:off x="4297680" y="3291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Stratoflow → Openkoda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Новий домен продукту; студія — партнер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лише для нового продукту без пошукової ваги</a:t>
            </a:r>
            <a:endParaRPr lang="en-US" sz="1300" dirty="0"/>
          </a:p>
        </p:txBody>
      </p:sp>
      <p:sp>
        <p:nvSpPr>
          <p:cNvPr id="25" name="case5"/>
          <p:cNvSpPr/>
          <p:nvPr/>
        </p:nvSpPr>
        <p:spPr>
          <a:xfrm>
            <a:off x="8046720" y="3291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532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Damco → InsureEdge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усередині сервісного сайту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Застереження: найслабша присутність продукту = DICEUS сьогодні</a:t>
            </a:r>
            <a:endParaRPr lang="en-US" sz="1300" dirty="0"/>
          </a:p>
        </p:txBody>
      </p:sp>
      <p:sp>
        <p:nvSpPr>
          <p:cNvPr id="29" name="verdict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Рекомендація для DICEUS: модель A — один домен, продукти першими (шлях Decerto / Majesco)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Залишаємо diceus.com: сайт уже №1 за captive і RRG, а лістинги Capterra, Gartner і Microsoft ведуть саме туди. Новий домен обнулив би це. Послуги понижуємо в навігації вже зараз, а видаляємо чи зливаємо лише тоді, коли GSC і CRM покажуть, що вони нічого не приносять («віртуальний спін-оф», а не сліпе скорочення).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 конкурувати: спершу alternative risk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 = 0,45 бізнес-релевантність + 0,35 SEO-досяжність + 0,20 ознаки попиту (обсягів немає, тож попит важить найменше)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win"/>
          <p:cNvSpPr/>
          <p:nvPr/>
        </p:nvSpPr>
        <p:spPr>
          <a:xfrm>
            <a:off x="7863840" y="169164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Вигравати зараз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2402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+ RRG: DICEUS №1 у вибірці, слабка конкуренція, партнер VCIA (червень 2026), ~262 RRG і 40 доміцилів captive у США</a:t>
            </a:r>
            <a:endParaRPr lang="en-US" sz="1400" dirty="0"/>
          </a:p>
        </p:txBody>
      </p:sp>
      <p:sp>
        <p:nvSpPr>
          <p:cNvPr id="9" name="longtail"/>
          <p:cNvSpPr/>
          <p:nvPr/>
        </p:nvSpPr>
        <p:spPr>
          <a:xfrm>
            <a:off x="7863840" y="402336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924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Вигравати довгий хвіст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45720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PAS, андеррайтинг, перестрахування: сегментні варіанти («for MGAs», «for captives») і відгуки, а не head-запити Guidewire, Oracle і G2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Вільна ніша, яку ще ніхто не зайняв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Прогалини, які не закриває жоден конкурент (розбір 13 вендорів)</a:t>
            </a:r>
            <a:endParaRPr lang="en-US" sz="1500" dirty="0"/>
          </a:p>
        </p:txBody>
      </p:sp>
      <p:sp>
        <p:nvSpPr>
          <p:cNvPr id="5" name="ws0"/>
          <p:cNvSpPr/>
          <p:nvPr/>
        </p:nvSpPr>
        <p:spPr>
          <a:xfrm>
            <a:off x="548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Лише ПЗ для captive-менеджерів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14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Luzern ($45M Series B) сам керує captive і конкурує з менеджерами — покупцями DICEUS. Позиція: платформа незалежних менеджерів.</a:t>
            </a:r>
            <a:endParaRPr lang="en-US" sz="1400" dirty="0"/>
          </a:p>
        </p:txBody>
      </p:sp>
      <p:sp>
        <p:nvSpPr>
          <p:cNvPr id="10" name="ws1"/>
          <p:cNvSpPr/>
          <p:nvPr/>
        </p:nvSpPr>
        <p:spPr>
          <a:xfrm>
            <a:off x="61264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0116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Родина captive + RRG + self-insured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2514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Origami і Riskonnect captive — підфункція RMIS; на головних про них ані слова.</a:t>
            </a:r>
            <a:endParaRPr lang="en-US" sz="1400" dirty="0"/>
          </a:p>
        </p:txBody>
      </p:sp>
      <p:sp>
        <p:nvSpPr>
          <p:cNvPr id="15" name="ws2"/>
          <p:cNvSpPr/>
          <p:nvPr/>
        </p:nvSpPr>
        <p:spPr>
          <a:xfrm>
            <a:off x="548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Пошук по RRG майже без конкурентів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7548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видачі — DICEUS, прес-реліз 2022 р. і сторінки часів Ventiv. Хаб про RRG (LRRA, доміцилі, календар NAIC) може забрати тему.</a:t>
            </a:r>
            <a:endParaRPr lang="en-US" sz="1400" dirty="0"/>
          </a:p>
        </p:txBody>
      </p:sp>
      <p:sp>
        <p:nvSpPr>
          <p:cNvPr id="20" name="ws3"/>
          <p:cNvSpPr/>
          <p:nvPr/>
        </p:nvSpPr>
        <p:spPr>
          <a:xfrm>
            <a:off x="61264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42519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Немає гайду категорії і llms.txt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995160" y="47548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Авторитетного гайду «best captive management software» немає — лише каталоги й слабкі агрегатори. Жоден вендор ПЗ для captive не має насиченого фактами llms.txt.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Цільова архітектура: продукти першими, URL ті самі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Ієрархія через навігацію, хаби та посилання; послуги й контент посилаються вгору на продукти</a:t>
            </a:r>
            <a:endParaRPr lang="en-US" sz="1500" dirty="0"/>
          </a:p>
        </p:txBody>
      </p:sp>
      <p:pic>
        <p:nvPicPr>
          <p:cNvPr id="5" name="Image 0" descr="C:\Projects\test task to seo\deliverables\assets\fig5_future_architecture_u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4440" y="1600200"/>
            <a:ext cx="9692640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змінюється на сайті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Конкретні зміни — кожна з доказом і прикладом найкращої практики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017520"/>
                <a:gridCol w="434340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Сьогодні (факт)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Зміна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Взірець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Головна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«Custom software development company»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з продуктовою категорією, вибір сегмента, смуга доказів, блок послуг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Decerto, Luzern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Навігація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посилань, мегаменю з перевагою послуг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Продукти · Alt-risk · Покупці · Послуги · Ресурси; 30-40 пунктів меню (≤120 посилань/стор.)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Luzern, Insly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Продуктові сторінки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Лише модулі + переваги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кого, відео, інтеграції, докази, модель ціни, FAQ, безпека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Riskonnect, Vertafore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Сторінки captive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Noindex; дві сторінки цілять в одну аудиторію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Виправити; розділити менеджерів і власників; ТЗ у 04, дод.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Докази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Рейтинги Gartner / Clutch на рівні компанії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кейси alt-risk; 10+ відгуків про продукти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Luzern, Riskonnect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Нові сторінки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/trust/, /pricing/ (модель), хаб RRG, порівняння, RFP-шаблон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Socotra, Insly, Riskonnect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Готовність до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Немає product schema; llms.txt = PAS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SoftwareApplication + FAQ schema; ручний llms.txt; Wikidata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Vertafore, Luzern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AI-пошук: стати відповіддю про captive і RRG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Бренди, названі в 16 небрендових запитах (Claude + веб-пошук, 1 прогін, орієнтовно)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v0"/>
          <p:cNvSpPr/>
          <p:nvPr/>
        </p:nvSpPr>
        <p:spPr>
          <a:xfrm>
            <a:off x="6766560" y="1691640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949440" y="19659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494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Бути в індексі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167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Прибрати noindex зі сторінок, що вже виграють</a:t>
            </a:r>
            <a:endParaRPr lang="en-US" sz="1300" dirty="0"/>
          </a:p>
        </p:txBody>
      </p:sp>
      <p:sp>
        <p:nvSpPr>
          <p:cNvPr id="11" name="lev1"/>
          <p:cNvSpPr/>
          <p:nvPr/>
        </p:nvSpPr>
        <p:spPr>
          <a:xfrm>
            <a:off x="6766560" y="2807208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0" y="3081528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916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Нести бренд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3282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«DICEUS Captive Management Platform» у кожному лістингу</a:t>
            </a:r>
            <a:endParaRPr lang="en-US" sz="1300" dirty="0"/>
          </a:p>
        </p:txBody>
      </p:sp>
      <p:sp>
        <p:nvSpPr>
          <p:cNvPr id="16" name="lev2"/>
          <p:cNvSpPr/>
          <p:nvPr/>
        </p:nvSpPr>
        <p:spPr>
          <a:xfrm>
            <a:off x="6766560" y="3922776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0" y="4197096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94944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4032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Бути цитованим іншими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498080" y="43982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Відгуки, Celent VendorMatch, галузеві медіа captive</a:t>
            </a:r>
            <a:endParaRPr lang="en-US" sz="1300" dirty="0"/>
          </a:p>
        </p:txBody>
      </p:sp>
      <p:sp>
        <p:nvSpPr>
          <p:cNvPr id="21" name="lev3"/>
          <p:cNvSpPr/>
          <p:nvPr/>
        </p:nvSpPr>
        <p:spPr>
          <a:xfrm>
            <a:off x="6766560" y="5038344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49440" y="5312664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4944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5148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Бути зручним для цитування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498080" y="5513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SoftwareApplication + FAQ schema, llms.txt, Wikidata, модель ціни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днів: виправити, перепозиціонувати, довести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Руйнівні зміни (редиректи, злиття, видалення) — лише після доказів із GSC/CRM</a:t>
            </a:r>
            <a:endParaRPr lang="en-US" sz="1500" dirty="0"/>
          </a:p>
        </p:txBody>
      </p:sp>
      <p:sp>
        <p:nvSpPr>
          <p:cNvPr id="5" name="ph0"/>
          <p:cNvSpPr/>
          <p:nvPr/>
        </p:nvSpPr>
        <p:spPr>
          <a:xfrm>
            <a:off x="548640" y="16916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55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Дні 1-30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Виправити · виміряти · вирішити</a:t>
            </a:r>
            <a:endParaRPr lang="en-US" sz="1300" dirty="0"/>
          </a:p>
        </p:txBody>
      </p:sp>
      <p:sp>
        <p:nvSpPr>
          <p:cNvPr id="8" name="phb0"/>
          <p:cNvSpPr/>
          <p:nvPr/>
        </p:nvSpPr>
        <p:spPr>
          <a:xfrm>
            <a:off x="548640" y="26517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7889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Прибрати noindex + захист при деплої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GSC, GA4, CRM; база по кожному URL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правди: що є продуктом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запитів: 1 URL на кластер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 сторінка Captive Management (ТЗ)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у лістингах; збір відгуків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AI-панель v2 у 4 системах</a:t>
            </a:r>
            <a:endParaRPr lang="en-US" sz="1400" dirty="0"/>
          </a:p>
        </p:txBody>
      </p:sp>
      <p:sp>
        <p:nvSpPr>
          <p:cNvPr id="10" name="ph1"/>
          <p:cNvSpPr/>
          <p:nvPr/>
        </p:nvSpPr>
        <p:spPr>
          <a:xfrm>
            <a:off x="4297680" y="16916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755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Дні 31-60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Перепозиціонувати · будувати</a:t>
            </a:r>
            <a:endParaRPr lang="en-US" sz="1300" dirty="0"/>
          </a:p>
        </p:txBody>
      </p:sp>
      <p:sp>
        <p:nvSpPr>
          <p:cNvPr id="13" name="phb1"/>
          <p:cNvSpPr/>
          <p:nvPr/>
        </p:nvSpPr>
        <p:spPr>
          <a:xfrm>
            <a:off x="4297680" y="26517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27889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у 2 кроки з контролем GSC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v2: продукти першими, 30-40 пунктів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Хаб Alt-Risk + сторінка self-insured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Посилання з 86 страхових постів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Сторінки /trust/ і /pricing/ (модель)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+ RFP-шаблон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Wikidata; пітч галузевим медіа</a:t>
            </a:r>
            <a:endParaRPr lang="en-US" sz="1400" dirty="0"/>
          </a:p>
        </p:txBody>
      </p:sp>
      <p:sp>
        <p:nvSpPr>
          <p:cNvPr id="15" name="ph2"/>
          <p:cNvSpPr/>
          <p:nvPr/>
        </p:nvSpPr>
        <p:spPr>
          <a:xfrm>
            <a:off x="8046720" y="16916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755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Дні 61-90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· масштабувати</a:t>
            </a:r>
            <a:endParaRPr lang="en-US" sz="1300" dirty="0"/>
          </a:p>
        </p:txBody>
      </p:sp>
      <p:sp>
        <p:nvSpPr>
          <p:cNvPr id="18" name="phb2"/>
          <p:cNvSpPr/>
          <p:nvPr/>
        </p:nvSpPr>
        <p:spPr>
          <a:xfrm>
            <a:off x="8046720" y="26517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27889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Сторінка для MGA і програмних адміністраторів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Злиття — лише де доведе GSC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функції — після перевірки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 архівів кейсів, якщо 0 трафіку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Щотижневий автозвіт: краул + GSC + 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на 90-й день, нові пріоритети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Чого поки не робимо, що потрібно, як міряємо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Спершу докази, потім незворотні кроки</a:t>
            </a:r>
            <a:endParaRPr lang="en-US" sz="1500" dirty="0"/>
          </a:p>
        </p:txBody>
      </p:sp>
      <p:sp>
        <p:nvSpPr>
          <p:cNvPr id="5" name="nb0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Поки ні (спершу перевірка)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Видаляти чи редиректити ~190 сторінок загальних послуг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Переносити продукти в нову папку /products/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Зливати дві сторінки captive чи перетини послуг</a:t>
            </a:r>
            <a:endParaRPr lang="en-US" sz="1400" dirty="0"/>
          </a:p>
        </p:txBody>
      </p:sp>
      <p:sp>
        <p:nvSpPr>
          <p:cNvPr id="8" name="nb1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потрібно від DICEUS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3774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до GSC, GA4, CRM і логів Cloudflare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правди: що продається вже сьогодні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референсний клієнт alt-risk у США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 про безпеку (статус ISO / SOC)</a:t>
            </a:r>
            <a:endParaRPr lang="en-US" sz="1400" dirty="0"/>
          </a:p>
        </p:txBody>
      </p:sp>
      <p:sp>
        <p:nvSpPr>
          <p:cNvPr id="11" name="nb2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на 90-й день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3774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 продуктових сторінок в індексі (зараз 20/23)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Посилання в тексті на продукти: медіана 24 → 60+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голосу в AI: 2/16 → 5/16+ (Claude)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відгуків про продукти (зараз 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Покази alt-risk і демо відносно бази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Перший крок: виправити три теги цього тижня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 — зробити продукти найсильнішими сторінками diceus.com, а DICEUS — відповіддю про ПЗ для captive і RRG у пошуку та AI.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CEUS Strategy">
  <a:themeElements>
    <a:clrScheme name="DICEUS Strategy">
      <a:dk1>
        <a:srgbClr val="111827"/>
      </a:dk1>
      <a:lt1>
        <a:srgbClr val="FFFFFF"/>
      </a:lt1>
      <a:dk2>
        <a:srgbClr val="14213D"/>
      </a:dk2>
      <a:lt2>
        <a:srgbClr val="EEF2F7"/>
      </a:lt2>
      <a:accent1>
        <a:srgbClr val="14213D"/>
      </a:accent1>
      <a:accent2>
        <a:srgbClr val="0F9D8A"/>
      </a:accent2>
      <a:accent3>
        <a:srgbClr val="E4572E"/>
      </a:accent3>
      <a:accent4>
        <a:srgbClr val="F2A541"/>
      </a:accent4>
      <a:accent5>
        <a:srgbClr val="6B7A99"/>
      </a:accent5>
      <a:accent6>
        <a:srgbClr val="9AA5B8"/>
      </a:accent6>
      <a:hlink>
        <a:srgbClr val="0F9D8A"/>
      </a:hlink>
      <a:folHlink>
        <a:srgbClr val="6B7A99"/>
      </a:folHlink>
    </a:clrScheme>
    <a:fontScheme name="DICEUS Strate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DICEUS - план SEO та AI-пошуку</dc:title>
  <dc:subject>PptxGenJS Presentation</dc:subject>
  <dc:creator>Кандидат на позицію Senior Technical SEO &amp; AI Search</dc:creator>
  <cp:lastModifiedBy>Кандидат на позицію Senior Technical SEO &amp; AI Search</cp:lastModifiedBy>
  <cp:revision>1</cp:revision>
  <dcterms:created xsi:type="dcterms:W3CDTF">2026-10-07T11:36:24Z</dcterms:created>
  <dcterms:modified xsi:type="dcterms:W3CDTF">2026-10-07T11:36:24Z</dcterms:modified>
</cp:coreProperties>
</file>