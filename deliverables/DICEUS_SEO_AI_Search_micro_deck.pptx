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score</c:v>
                </c:pt>
              </c:strCache>
            </c:strRef>
          </c:tx>
          <c:spPr>
            <a:solidFill>
              <a:srgbClr val="9AA5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AA5B8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Generic IT services</c:v>
                  </c:pt>
                  <c:pt idx="1">
                    <c:v>Insurance dev services</c:v>
                  </c:pt>
                  <c:pt idx="2">
                    <c:v>Claims management</c:v>
                  </c:pt>
                  <c:pt idx="3">
                    <c:v>MGA / program admin</c:v>
                  </c:pt>
                  <c:pt idx="4">
                    <c:v>Group insurance</c:v>
                  </c:pt>
                  <c:pt idx="5">
                    <c:v>Data warehouse &amp; analytics</c:v>
                  </c:pt>
                  <c:pt idx="6">
                    <c:v>Broker &amp; customer portals</c:v>
                  </c:pt>
                  <c:pt idx="7">
                    <c:v>Self-insured &amp; pools</c:v>
                  </c:pt>
                  <c:pt idx="8">
                    <c:v>Policy administration (PAS)</c:v>
                  </c:pt>
                  <c:pt idx="9">
                    <c:v>Insurance GL / accounting</c:v>
                  </c:pt>
                  <c:pt idx="10">
                    <c:v>Risk retention groups</c:v>
                  </c:pt>
                  <c:pt idx="11">
                    <c:v>Captive insurance &amp; management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1.45</c:v>
                </c:pt>
                <c:pt idx="1">
                  <c:v>2.4</c:v>
                </c:pt>
                <c:pt idx="2">
                  <c:v>2.95</c:v>
                </c:pt>
                <c:pt idx="3">
                  <c:v>3.1</c:v>
                </c:pt>
                <c:pt idx="4">
                  <c:v>3.25</c:v>
                </c:pt>
                <c:pt idx="5">
                  <c:v>3.35</c:v>
                </c:pt>
                <c:pt idx="6">
                  <c:v>3.35</c:v>
                </c:pt>
                <c:pt idx="7">
                  <c:v>3.6</c:v>
                </c:pt>
                <c:pt idx="8">
                  <c:v>3.75</c:v>
                </c:pt>
                <c:pt idx="9">
                  <c:v>3.8</c:v>
                </c:pt>
                <c:pt idx="10">
                  <c:v>4.4</c:v>
                </c:pt>
                <c:pt idx="11">
                  <c:v>4.6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Prompts naming the brand</c:v>
                </c:pt>
              </c:strCache>
            </c:strRef>
          </c:tx>
          <c:spPr>
            <a:solidFill>
              <a:srgbClr val="9AA5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DICEUS</c:v>
                  </c:pt>
                  <c:pt idx="1">
                    <c:v>Origami Risk</c:v>
                  </c:pt>
                  <c:pt idx="2">
                    <c:v>OneShield</c:v>
                  </c:pt>
                  <c:pt idx="3">
                    <c:v>AdvantageGo</c:v>
                  </c:pt>
                  <c:pt idx="4">
                    <c:v>BriteCore</c:v>
                  </c:pt>
                  <c:pt idx="5">
                    <c:v>Insurity</c:v>
                  </c:pt>
                  <c:pt idx="6">
                    <c:v>Duck Creek</c:v>
                  </c:pt>
                  <c:pt idx="7">
                    <c:v>Sapiens</c:v>
                  </c:pt>
                  <c:pt idx="8">
                    <c:v>Majesco</c:v>
                  </c:pt>
                  <c:pt idx="9">
                    <c:v>Guidewire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5</c:v>
                </c:pt>
                <c:pt idx="6">
                  <c:v>6</c:v>
                </c:pt>
                <c:pt idx="7">
                  <c:v>6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the direction and the first 30 days. Everything shown is from public data; GSC, GA4 and CRM were not available and are marked as such in the full deliverables (01-06).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Pyramid: main message first. 1) A free fix protects the only territory where DICEUS already wins. 2) The site and entity still say 'dev shop'; repositioning is done through homepage, navigation, links and schema - no URL migration. 3) Alternative risk is the highest relevance x feasibility territory; build it as the first complete product cluster with real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crawl of 815 URLs (02_Current_State_Audit.xlsx Summary, Layer_Links, Indexability); AI panel (03 AI_Panel). Contextual links exclude the ~300 sitewide mega-menu links. AI panel = Claude with web search, 1 run per prompt, directional.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H2 sequence taken verbatim from the crawl. Proposed: title 'DICEUS - Insurance Software for Carriers, MGAs &amp; Captives'; H1 'Insurance software products for carriers, MGAs and alternative risk'. Staged change: first hand the generic 'custom software development company' query to /services/custom-software-development/, check GSC, then retitle the homepage (rollback ready).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teardown (data/competitor_teardown.md): Luzern Risk (4 anonymised testimonials with titles + quantified cases e.g. ~$55M premium, hand-written llms.txt with flat-rate pricing model, calculators), Riskonnect (named Municipal Association of SC quote, buying guide + RFP template, FAQ, Platform Security page with SOC 2 Type 2; G2 35 reviews), Insly (pricing tiers by segment, custom quotes - no figures), Socotra (ISO 27001, SOC 1 T2 security page; 2021 Gartner MQ Visionary) / hx (SOC 2 + ISO 27001 on homepage), Vertafore MGA Systems (SoftwareApplication + FAQPage schema). Fact-checked 6 Oct 2026: data/factcheck_external.md. DICEUS's Gartner 5/5 and Clutch 4.9 are company-level ratings of the services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data/pivot_case_studies.md. Adacta sold its ~300-person Dynamics services unit to BE-terna (2019); adacta.si now 301s to adacta-fintech.com; Gartner/Celent recognition and Volpi Capital investment (2021). Decerto: one domain with separate Products and Services menus; it still sells IT outsourcing / custom development alongside its insurance products (fact-check #15); satellite higson.io splits authority (no canonical). Majesco: demerged from Mastek 2014; 2016 nav mixed dev/testing services; today no Services in top nav; Gartner MQ Leader (2025), 375+ customers (Feb 2026, after the Vitech acquisition); acquired by Thoma Bravo ~$729M (2020). Exigen -&gt; EIS: services spun off, product renamed. Stratoflow -&gt; Openkoda: new product domain, services sister brand as implementation partner (works only for a brand-new product without search equity). Damco: InsureEdge still under a Services menu = where DICEUS is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03_Search_Market_and_Opportunity.xlsx / Territories. Sensitivity check: with equal weights the top two (captive, RRG) and bottom two (services) do not change. PAS has the most demand but Oracle/Guidewire/G2 own the head terms - win its long tail (PAS for MGAs / captives / RRGs)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Luzern Risk raised $45M and is an AI-native captive MANAGER: it competes with DICEUS's buyers, so 'software-only platform for independent captive managers' is a real wedge. Origami and Riskonnect never mention captives on their homepages; Websure's captive page is ~250 words. No authoritative 'best captive management software' guide exists: the exact query returns directories (incl. DICEUS's own Capterra/GetApp listings) and thin aggregator listicles.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hub /insurance/solutions/, Alternative Risk hub (AROP page), buyer pages for MGAs and self-insured groups. Captive managers, RRGs and brokers are served by their product pages to avoid self-cannibalisation. Generic services stay live but leave the primary nav until GSC/CRM show their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Decerto keeps separate Products and Services menus on one domain; Luzern segment-first nav; Riskonnect PAS page (named quote, buying guide, RFP template, FAQ); Insly pricing tiers (custom quotes); Socotra/hx security pages; Vertafore SoftwareApplication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Broad answers are assembled from analyst lists (Celent, Datos), G2/Capterra category pages and listicles - DICEUS is in none. 'What is DICEUS?' resolved to homonyms (no Wikidata). Listings surfaced without the brand name and with 0 reviews. ChatGPT, Perplexity and Google AI Overviews: not measured yet (panel v2 in days 5-20).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plan with owners, dependencies and Definition of Done: 05_90_Day_Execution_Plan.xlsx (32 tasks). Governance: baseline + change log + 14-day check + rollback for every risky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yet: (1) pruning ~190 generic service pages - their traffic and leads are unknown; (2) moving products to a new /products/ URL folder - equity and directory links at risk, no evidence the path hurts; (3) merging the two captive pages or overlapping service pages - need GSC query-by-page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approve days 1-30 (fix, data access, product truth table, captive page rebuild).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DICEUS · SEO &amp; AI Search plan · confidential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dev shop to insurance software vendor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AI Search plan for diceus.com: why the site underperforms the product strategy, what to change, and the 90-day plan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own crawl of 815 URLs · 44 SERPs · 20-prompt AI panel · 13 competitors · 7 pivot case studies   | 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on one slide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weight, not the URLs: fix, reposition, then win alternative risk first</a:t>
            </a:r>
            <a:endParaRPr lang="en-US" sz="1500" dirty="0"/>
          </a:p>
        </p:txBody>
      </p:sp>
      <p:sp>
        <p:nvSpPr>
          <p:cNvPr id="5" name="col1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this week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product pages are noindexed, including Captive Management and RRG: the pages where DICEUS already wins in search and AI answers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stray tag · deploy guardrail</a:t>
            </a:r>
            <a:endParaRPr lang="en-US" sz="1300" dirty="0"/>
          </a:p>
        </p:txBody>
      </p:sp>
      <p:sp>
        <p:nvSpPr>
          <p:cNvPr id="11" name="col2"/>
          <p:cNvSpPr/>
          <p:nvPr/>
        </p:nvSpPr>
        <p:spPr>
          <a:xfrm>
            <a:off x="429768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011680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Reposition: days 1-60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31089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Homepage, navigation and internal links still sell custom development. Make products the strongest pages, keep services as a secondary line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· nav · links · schema</a:t>
            </a:r>
            <a:endParaRPr lang="en-US" sz="1300" dirty="0"/>
          </a:p>
        </p:txBody>
      </p:sp>
      <p:sp>
        <p:nvSpPr>
          <p:cNvPr id="17" name="col3"/>
          <p:cNvSpPr/>
          <p:nvPr/>
        </p:nvSpPr>
        <p:spPr>
          <a:xfrm>
            <a:off x="804672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0116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alt-risk: days 1-90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1089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and RRG software is winnable now: DICEUS is #1 in our sample and no vendor owns the category. Add proof, buyer assets and AI-ready facts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· proof · reviews · comparisons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the site tells Google, buyers and AI: "dev shop"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measured symptoms (own crawl and panels, 6 Oct 2026)</a:t>
            </a:r>
            <a:endParaRPr lang="en-US" sz="1500" dirty="0"/>
          </a:p>
        </p:txBody>
      </p:sp>
      <p:sp>
        <p:nvSpPr>
          <p:cNvPr id="5" name="stat0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: 192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 vs generic service, expertise and non-insurance industry pages</a:t>
            </a:r>
            <a:endParaRPr lang="en-US" sz="1400" dirty="0"/>
          </a:p>
        </p:txBody>
      </p:sp>
      <p:sp>
        <p:nvSpPr>
          <p:cNvPr id="8" name="stat1"/>
          <p:cNvSpPr/>
          <p:nvPr/>
        </p:nvSpPr>
        <p:spPr>
          <a:xfrm>
            <a:off x="429768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vs 93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in-content links a product page gets vs a generic service page</a:t>
            </a:r>
            <a:endParaRPr lang="en-US" sz="1400" dirty="0"/>
          </a:p>
        </p:txBody>
      </p:sp>
      <p:sp>
        <p:nvSpPr>
          <p:cNvPr id="11" name="stat2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 excluded by noindex: Captive Mgmt, RRG, Group Health</a:t>
            </a:r>
            <a:endParaRPr lang="en-US" sz="1400" dirty="0"/>
          </a:p>
        </p:txBody>
      </p:sp>
      <p:sp>
        <p:nvSpPr>
          <p:cNvPr id="14" name="stat3"/>
          <p:cNvSpPr/>
          <p:nvPr/>
        </p:nvSpPr>
        <p:spPr>
          <a:xfrm>
            <a:off x="54864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16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unbranded AI prompts that name DICEUS (captive and RRG only)</a:t>
            </a:r>
            <a:endParaRPr lang="en-US" sz="1400" dirty="0"/>
          </a:p>
        </p:txBody>
      </p:sp>
      <p:sp>
        <p:nvSpPr>
          <p:cNvPr id="17" name="stat4"/>
          <p:cNvSpPr/>
          <p:nvPr/>
        </p:nvSpPr>
        <p:spPr>
          <a:xfrm>
            <a:off x="429768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23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5166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 with product schema; 0 reviews on product listings</a:t>
            </a:r>
            <a:endParaRPr lang="en-US" sz="1400" dirty="0"/>
          </a:p>
        </p:txBody>
      </p:sp>
      <p:sp>
        <p:nvSpPr>
          <p:cNvPr id="20" name="homepage-quote"/>
          <p:cNvSpPr/>
          <p:nvPr/>
        </p:nvSpPr>
        <p:spPr>
          <a:xfrm>
            <a:off x="8046720" y="4069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H1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"Custom software development company"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5532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 2022 · 0.99 title match with a services page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homepage tells the agency story first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H2 order (crawl) vs proposed order: products, segments and proof first, services as one strip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6" name="NOW0"/>
          <p:cNvSpPr/>
          <p:nvPr/>
        </p:nvSpPr>
        <p:spPr>
          <a:xfrm>
            <a:off x="548640" y="210312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FDE7E1"/>
          </a:solidFill>
          <a:ln w="12700">
            <a:solidFill>
              <a:srgbClr val="FDE7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1031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Need a custom software solution?</a:t>
            </a:r>
            <a:endParaRPr lang="en-US" sz="1400" dirty="0"/>
          </a:p>
        </p:txBody>
      </p:sp>
      <p:sp>
        <p:nvSpPr>
          <p:cNvPr id="8" name="NOW1"/>
          <p:cNvSpPr/>
          <p:nvPr/>
        </p:nvSpPr>
        <p:spPr>
          <a:xfrm>
            <a:off x="548640" y="261518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1518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Ready-made insurance software</a:t>
            </a:r>
            <a:endParaRPr lang="en-US" sz="1400" dirty="0"/>
          </a:p>
        </p:txBody>
      </p:sp>
      <p:sp>
        <p:nvSpPr>
          <p:cNvPr id="10" name="NOW2"/>
          <p:cNvSpPr/>
          <p:nvPr/>
        </p:nvSpPr>
        <p:spPr>
          <a:xfrm>
            <a:off x="548640" y="312724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272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Custom software services and solutions</a:t>
            </a:r>
            <a:endParaRPr lang="en-US" sz="1400" dirty="0"/>
          </a:p>
        </p:txBody>
      </p:sp>
      <p:sp>
        <p:nvSpPr>
          <p:cNvPr id="12" name="NOW3"/>
          <p:cNvSpPr/>
          <p:nvPr/>
        </p:nvSpPr>
        <p:spPr>
          <a:xfrm>
            <a:off x="548640" y="363931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6393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Case studies · Focus industries · Clients</a:t>
            </a:r>
            <a:endParaRPr lang="en-US" sz="1400" dirty="0"/>
          </a:p>
        </p:txBody>
      </p:sp>
      <p:sp>
        <p:nvSpPr>
          <p:cNvPr id="14" name="NOW4"/>
          <p:cNvSpPr/>
          <p:nvPr/>
        </p:nvSpPr>
        <p:spPr>
          <a:xfrm>
            <a:off x="548640" y="4151376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513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Benefits of custom software solutions</a:t>
            </a:r>
            <a:endParaRPr lang="en-US" sz="1400" dirty="0"/>
          </a:p>
        </p:txBody>
      </p:sp>
      <p:sp>
        <p:nvSpPr>
          <p:cNvPr id="16" name="NOW5"/>
          <p:cNvSpPr/>
          <p:nvPr/>
        </p:nvSpPr>
        <p:spPr>
          <a:xfrm>
            <a:off x="548640" y="466344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663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Software development life cycle</a:t>
            </a:r>
            <a:endParaRPr lang="en-US" sz="1400" dirty="0"/>
          </a:p>
        </p:txBody>
      </p:sp>
      <p:sp>
        <p:nvSpPr>
          <p:cNvPr id="18" name="NOW6"/>
          <p:cNvSpPr/>
          <p:nvPr/>
        </p:nvSpPr>
        <p:spPr>
          <a:xfrm>
            <a:off x="548640" y="51755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1755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Why choose DICEUS as a business software development company?</a:t>
            </a:r>
            <a:endParaRPr lang="en-US" sz="1400" dirty="0"/>
          </a:p>
        </p:txBody>
      </p:sp>
      <p:sp>
        <p:nvSpPr>
          <p:cNvPr id="20" name="NOW7"/>
          <p:cNvSpPr/>
          <p:nvPr/>
        </p:nvSpPr>
        <p:spPr>
          <a:xfrm>
            <a:off x="548640" y="568756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568756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Tech stack · Team · Articles · FAQ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400" dirty="0"/>
          </a:p>
        </p:txBody>
      </p:sp>
      <p:sp>
        <p:nvSpPr>
          <p:cNvPr id="23" name="PROPOSED0"/>
          <p:cNvSpPr/>
          <p:nvPr/>
        </p:nvSpPr>
        <p:spPr>
          <a:xfrm>
            <a:off x="6217920" y="210312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210312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H1: Insurance software for carriers, MGAs &amp; alt-risk</a:t>
            </a:r>
            <a:endParaRPr lang="en-US" sz="1400" dirty="0"/>
          </a:p>
        </p:txBody>
      </p:sp>
      <p:sp>
        <p:nvSpPr>
          <p:cNvPr id="25" name="PROPOSED1"/>
          <p:cNvSpPr/>
          <p:nvPr/>
        </p:nvSpPr>
        <p:spPr>
          <a:xfrm>
            <a:off x="6217920" y="261518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261518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Choose your path: captives · RRGs · MGAs · carriers</a:t>
            </a:r>
            <a:endParaRPr lang="en-US" sz="1400" dirty="0"/>
          </a:p>
        </p:txBody>
      </p:sp>
      <p:sp>
        <p:nvSpPr>
          <p:cNvPr id="27" name="PROPOSED2"/>
          <p:cNvSpPr/>
          <p:nvPr/>
        </p:nvSpPr>
        <p:spPr>
          <a:xfrm>
            <a:off x="6217920" y="312724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0" y="312724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Product families: core, distribution, finance &amp; data, alternative risk</a:t>
            </a:r>
            <a:endParaRPr lang="en-US" sz="1400" dirty="0"/>
          </a:p>
        </p:txBody>
      </p:sp>
      <p:sp>
        <p:nvSpPr>
          <p:cNvPr id="29" name="PROPOSED3"/>
          <p:cNvSpPr/>
          <p:nvPr/>
        </p:nvSpPr>
        <p:spPr>
          <a:xfrm>
            <a:off x="6217920" y="363931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0" y="363931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Proof band: named outcomes, VCIA partner, product reviews</a:t>
            </a:r>
            <a:endParaRPr lang="en-US" sz="1400" dirty="0"/>
          </a:p>
        </p:txBody>
      </p:sp>
      <p:sp>
        <p:nvSpPr>
          <p:cNvPr id="31" name="PROPOSED4"/>
          <p:cNvSpPr/>
          <p:nvPr/>
        </p:nvSpPr>
        <p:spPr>
          <a:xfrm>
            <a:off x="6217920" y="4151376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0" y="415137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How we deliver: implementation in weeks, security &amp; trust</a:t>
            </a:r>
            <a:endParaRPr lang="en-US" sz="1400" dirty="0"/>
          </a:p>
        </p:txBody>
      </p:sp>
      <p:sp>
        <p:nvSpPr>
          <p:cNvPr id="33" name="PROPOSED5"/>
          <p:cNvSpPr/>
          <p:nvPr/>
        </p:nvSpPr>
        <p:spPr>
          <a:xfrm>
            <a:off x="6217920" y="466344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0" y="4663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Services strip: implementation, modernization, custom dev</a:t>
            </a:r>
            <a:endParaRPr lang="en-US" sz="1400" dirty="0"/>
          </a:p>
        </p:txBody>
      </p:sp>
      <p:sp>
        <p:nvSpPr>
          <p:cNvPr id="35" name="PROPOSED6"/>
          <p:cNvSpPr/>
          <p:nvPr/>
        </p:nvSpPr>
        <p:spPr>
          <a:xfrm>
            <a:off x="6217920" y="51755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0" y="517550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Insights: captive, RRG and PAS guides</a:t>
            </a:r>
            <a:endParaRPr lang="en-US" sz="1400" dirty="0"/>
          </a:p>
        </p:txBody>
      </p:sp>
      <p:sp>
        <p:nvSpPr>
          <p:cNvPr id="37" name="PROPOSED7"/>
          <p:cNvSpPr/>
          <p:nvPr/>
        </p:nvSpPr>
        <p:spPr>
          <a:xfrm>
            <a:off x="6217920" y="568756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00800" y="568756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Book a demo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pages lose on proof, not on features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DICEUS has the deepest captive feature content in the set, but none of the trust signals buyers and AI look for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Riskonnect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Socotra / hx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depth for captives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proof with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Anon.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quote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execs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Logos + metrics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Product-level reviews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G2: 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model explained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Tiers, no prices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trust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27001, SOC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assets (guide, RFP, calculator)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+ RFP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Glossary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+ product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llms.txt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/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 made this pivot: the winners put products first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insurance software companies that started as services firms (public sources, Wayback snapshots)</a:t>
            </a:r>
            <a:endParaRPr lang="en-US" sz="1500" dirty="0"/>
          </a:p>
        </p:txBody>
      </p:sp>
      <p:sp>
        <p:nvSpPr>
          <p:cNvPr id="5" name="case0"/>
          <p:cNvSpPr/>
          <p:nvPr/>
        </p:nvSpPr>
        <p:spPr>
          <a:xfrm>
            <a:off x="54864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Adacta → AdInsure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services unit (2019), product company on new domain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commitment; analyst recognition and investment followed</a:t>
            </a:r>
            <a:endParaRPr lang="en-US" sz="1300" dirty="0"/>
          </a:p>
        </p:txBody>
      </p:sp>
      <p:sp>
        <p:nvSpPr>
          <p:cNvPr id="9" name="case1"/>
          <p:cNvSpPr/>
          <p:nvPr/>
        </p:nvSpPr>
        <p:spPr>
          <a:xfrm>
            <a:off x="429768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Decerto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products + software-house services, one domain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DICEUS: separate Products and Services menus</a:t>
            </a:r>
            <a:endParaRPr lang="en-US" sz="1300" dirty="0"/>
          </a:p>
        </p:txBody>
      </p:sp>
      <p:sp>
        <p:nvSpPr>
          <p:cNvPr id="13" name="case2"/>
          <p:cNvSpPr/>
          <p:nvPr/>
        </p:nvSpPr>
        <p:spPr>
          <a:xfrm>
            <a:off x="804672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Mastek → Majesco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Demerger (2014); services dropped from top nav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MQ Leader, 375+ customers, acquired for ~$729M</a:t>
            </a:r>
            <a:endParaRPr lang="en-US" sz="1300" dirty="0"/>
          </a:p>
        </p:txBody>
      </p:sp>
      <p:sp>
        <p:nvSpPr>
          <p:cNvPr id="17" name="case3"/>
          <p:cNvSpPr/>
          <p:nvPr/>
        </p:nvSpPr>
        <p:spPr>
          <a:xfrm>
            <a:off x="548640" y="3291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Exigen → EIS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spun off, product brand renamed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product identity for buyers and analysts</a:t>
            </a:r>
            <a:endParaRPr lang="en-US" sz="1300" dirty="0"/>
          </a:p>
        </p:txBody>
      </p:sp>
      <p:sp>
        <p:nvSpPr>
          <p:cNvPr id="21" name="case4"/>
          <p:cNvSpPr/>
          <p:nvPr/>
        </p:nvSpPr>
        <p:spPr>
          <a:xfrm>
            <a:off x="4297680" y="3291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Stratoflow → Openkoda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2628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domain; dev shop kept as partner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for a new product with no search equity yet</a:t>
            </a:r>
            <a:endParaRPr lang="en-US" sz="1300" dirty="0"/>
          </a:p>
        </p:txBody>
      </p:sp>
      <p:sp>
        <p:nvSpPr>
          <p:cNvPr id="25" name="case5"/>
          <p:cNvSpPr/>
          <p:nvPr/>
        </p:nvSpPr>
        <p:spPr>
          <a:xfrm>
            <a:off x="8046720" y="32918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Damco → InsureEdge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75320" y="3794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left inside a services site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827532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weakest product presence = DICEUS today</a:t>
            </a:r>
            <a:endParaRPr lang="en-US" sz="1300" dirty="0"/>
          </a:p>
        </p:txBody>
      </p:sp>
      <p:sp>
        <p:nvSpPr>
          <p:cNvPr id="29" name="verdict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for DICEUS: Model A, one domain with products first (the Decerto / Majesco path)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diceus.com: it already ranks #1 for captive and RRG software, and the Capterra, Gartner and Microsoft listings point there. A new domain would throw that away. Demote services in navigation now. Prune or merge them only when GSC and CRM show they earn nothing (a 'virtual spin-off', not a blind cut).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compete: alternative risk first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= 0.45 business relevance + 0.35 SEO feasibility + 0.20 demand evidence (volumes not available, so demand weighs least)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win"/>
          <p:cNvSpPr/>
          <p:nvPr/>
        </p:nvSpPr>
        <p:spPr>
          <a:xfrm>
            <a:off x="7863840" y="169164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now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2402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+ RRG: DICEUS #1 in our sample, thin SERPs, VCIA partner (Jun 2026), ~262 US RRGs and 40 US captive domiciles</a:t>
            </a:r>
            <a:endParaRPr lang="en-US" sz="1400" dirty="0"/>
          </a:p>
        </p:txBody>
      </p:sp>
      <p:sp>
        <p:nvSpPr>
          <p:cNvPr id="9" name="longtail"/>
          <p:cNvSpPr/>
          <p:nvPr/>
        </p:nvSpPr>
        <p:spPr>
          <a:xfrm>
            <a:off x="7863840" y="402336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924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the long tail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092440" y="45720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PAS, underwriting, reinsurance: segment variants ("for MGAs", "for captives") and reviews, not head terms owned by Guidewire, Oracle and G2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whitespace nobody owns yet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no competitor fills, from the teardown of 13 vendors</a:t>
            </a:r>
            <a:endParaRPr lang="en-US" sz="1500" dirty="0"/>
          </a:p>
        </p:txBody>
      </p:sp>
      <p:sp>
        <p:nvSpPr>
          <p:cNvPr id="5" name="ws0"/>
          <p:cNvSpPr/>
          <p:nvPr/>
        </p:nvSpPr>
        <p:spPr>
          <a:xfrm>
            <a:off x="548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116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Software-only for captive managers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514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Luzern ($45M Series B) now runs captives itself and competes with the managers who would buy DICEUS. Position as the platform independent managers run on.</a:t>
            </a:r>
            <a:endParaRPr lang="en-US" sz="1400" dirty="0"/>
          </a:p>
        </p:txBody>
      </p:sp>
      <p:sp>
        <p:nvSpPr>
          <p:cNvPr id="10" name="ws1"/>
          <p:cNvSpPr/>
          <p:nvPr/>
        </p:nvSpPr>
        <p:spPr>
          <a:xfrm>
            <a:off x="61264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201168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2011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captive + RRG + self-insured family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2514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Origami and Riskonnect treat captives as an RMIS sub-feature; their homepages never mention them.</a:t>
            </a:r>
            <a:endParaRPr lang="en-US" sz="1400" dirty="0"/>
          </a:p>
        </p:txBody>
      </p:sp>
      <p:sp>
        <p:nvSpPr>
          <p:cNvPr id="15" name="ws2"/>
          <p:cNvSpPr/>
          <p:nvPr/>
        </p:nvSpPr>
        <p:spPr>
          <a:xfrm>
            <a:off x="548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RRG search is almost uncontested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47548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 = DICEUS, a 2022 press release and Ventiv-era pages. An RRG hub (LRRA, domiciles, NAIC calendar) can own the topic.</a:t>
            </a:r>
            <a:endParaRPr lang="en-US" sz="1400" dirty="0"/>
          </a:p>
        </p:txBody>
      </p:sp>
      <p:sp>
        <p:nvSpPr>
          <p:cNvPr id="20" name="ws3"/>
          <p:cNvSpPr/>
          <p:nvPr/>
        </p:nvSpPr>
        <p:spPr>
          <a:xfrm>
            <a:off x="61264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0" y="42519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4251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category guide, no curated llms.txt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995160" y="47548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authoritative 'best captive management software' guide: only directories and thin aggregator lists. No captive software vendor has a fact-dense llms.txt.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architecture: products first, URLs kept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through navigation, hubs and links; services and content link up into products</a:t>
            </a:r>
            <a:endParaRPr lang="en-US" sz="1500" dirty="0"/>
          </a:p>
        </p:txBody>
      </p:sp>
      <p:pic>
        <p:nvPicPr>
          <p:cNvPr id="5" name="Image 0" descr="C:\Projects\test task to seo\deliverables\assets\fig5_future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34440" y="1600200"/>
            <a:ext cx="969264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on the site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changes, each tied to evidence and a best-in-class example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448056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(fact)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to copy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 "Custom software development company"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Product-category H1, segment self-select, proof band, services strip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Decerto, Luzern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links, services-dominant mega-menu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· Alternative risk · Buyers · Services · Resources; 30-40 menu links (&lt;=120 links/page)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Luzern, Insly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+ benefits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it's for, video, integrations, proof, pricing model, FAQ,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Riskonnect, Vertafore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Captive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Noindex; two pages target the same audience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Fix; managers vs owners split; spec in 04 App.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Company-level Gartner / Clutch ratings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alt-risk case studies; 10+ product reviews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Luzern, Riskonnect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/trust/, /pricing/ (model), RRG hub, comparison, RFP template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Socotra, Insly, Riskonnect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readiness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3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 schema; llms.txt = PAS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SoftwareApplication + FAQ schema; curated llms.txt; Wikidata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Vertafore, Luzern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search: own the captive and RRG answer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named across 16 unbranded prompts (Claude + web search, 1 run each, directional)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v0"/>
          <p:cNvSpPr/>
          <p:nvPr/>
        </p:nvSpPr>
        <p:spPr>
          <a:xfrm>
            <a:off x="6766560" y="1691640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949440" y="196596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494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indexable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21671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noindex on the pages that win today</a:t>
            </a:r>
            <a:endParaRPr lang="en-US" sz="1300" dirty="0"/>
          </a:p>
        </p:txBody>
      </p:sp>
      <p:sp>
        <p:nvSpPr>
          <p:cNvPr id="11" name="lev1"/>
          <p:cNvSpPr/>
          <p:nvPr/>
        </p:nvSpPr>
        <p:spPr>
          <a:xfrm>
            <a:off x="6766560" y="2807208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0" y="3081528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2916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brand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3282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"DICEUS Captive Management Platform" on every listing</a:t>
            </a:r>
            <a:endParaRPr lang="en-US" sz="1300" dirty="0"/>
          </a:p>
        </p:txBody>
      </p:sp>
      <p:sp>
        <p:nvSpPr>
          <p:cNvPr id="16" name="lev2"/>
          <p:cNvSpPr/>
          <p:nvPr/>
        </p:nvSpPr>
        <p:spPr>
          <a:xfrm>
            <a:off x="6766560" y="3922776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49440" y="4197096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9494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40325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cited by third parties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498080" y="43982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reviews, Celent VendorMatch, captive trade press</a:t>
            </a:r>
            <a:endParaRPr lang="en-US" sz="1300" dirty="0"/>
          </a:p>
        </p:txBody>
      </p:sp>
      <p:sp>
        <p:nvSpPr>
          <p:cNvPr id="21" name="lev3"/>
          <p:cNvSpPr/>
          <p:nvPr/>
        </p:nvSpPr>
        <p:spPr>
          <a:xfrm>
            <a:off x="6766560" y="5038344"/>
            <a:ext cx="4846320" cy="987552"/>
          </a:xfrm>
          <a:prstGeom prst="roundRect">
            <a:avLst>
              <a:gd name="adj" fmla="val 740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49440" y="5312664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4944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5148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easy to quote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7498080" y="5513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SoftwareApplication + FAQ schema, curated llms.txt, Wikidata, pricing model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days: fix, reposition, prove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changes (redirects, merges, pruning) only after GSC/CRM evidence</a:t>
            </a:r>
            <a:endParaRPr lang="en-US" sz="1500" dirty="0"/>
          </a:p>
        </p:txBody>
      </p:sp>
      <p:sp>
        <p:nvSpPr>
          <p:cNvPr id="5" name="ph0"/>
          <p:cNvSpPr/>
          <p:nvPr/>
        </p:nvSpPr>
        <p:spPr>
          <a:xfrm>
            <a:off x="548640" y="16916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1-30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· baseline · decide</a:t>
            </a:r>
            <a:endParaRPr lang="en-US" sz="1300" dirty="0"/>
          </a:p>
        </p:txBody>
      </p:sp>
      <p:sp>
        <p:nvSpPr>
          <p:cNvPr id="8" name="phb0"/>
          <p:cNvSpPr/>
          <p:nvPr/>
        </p:nvSpPr>
        <p:spPr>
          <a:xfrm>
            <a:off x="548640" y="26517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7889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noindex + deploy guardrail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GSC, GA4, CRM; baseline per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truth table (what is a sellable SKU)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Query-ownership map: one URL per cluster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Captive Management page (spec)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directory listings; start review drive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panel v2 across 4 engines</a:t>
            </a:r>
            <a:endParaRPr lang="en-US" sz="1400" dirty="0"/>
          </a:p>
        </p:txBody>
      </p:sp>
      <p:sp>
        <p:nvSpPr>
          <p:cNvPr id="10" name="ph1"/>
          <p:cNvSpPr/>
          <p:nvPr/>
        </p:nvSpPr>
        <p:spPr>
          <a:xfrm>
            <a:off x="4297680" y="16916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755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31-60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· build</a:t>
            </a:r>
            <a:endParaRPr lang="en-US" sz="1300" dirty="0"/>
          </a:p>
        </p:txBody>
      </p:sp>
      <p:sp>
        <p:nvSpPr>
          <p:cNvPr id="13" name="phb1"/>
          <p:cNvSpPr/>
          <p:nvPr/>
        </p:nvSpPr>
        <p:spPr>
          <a:xfrm>
            <a:off x="4297680" y="26517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27889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in 2 GSC-gated steps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v2: products first, 30-40 menu links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Risk hub + self-insured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contextual links from 86 insurance posts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/trust/ and /pricing/ (model)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page + RFP template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entity; trade-press pitch</a:t>
            </a:r>
            <a:endParaRPr lang="en-US" sz="1400" dirty="0"/>
          </a:p>
        </p:txBody>
      </p:sp>
      <p:sp>
        <p:nvSpPr>
          <p:cNvPr id="15" name="ph2"/>
          <p:cNvSpPr/>
          <p:nvPr/>
        </p:nvSpPr>
        <p:spPr>
          <a:xfrm>
            <a:off x="8046720" y="16916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755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61-90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· scale</a:t>
            </a:r>
            <a:endParaRPr lang="en-US" sz="1300" dirty="0"/>
          </a:p>
        </p:txBody>
      </p:sp>
      <p:sp>
        <p:nvSpPr>
          <p:cNvPr id="18" name="phb2"/>
          <p:cNvSpPr/>
          <p:nvPr/>
        </p:nvSpPr>
        <p:spPr>
          <a:xfrm>
            <a:off x="8046720" y="265176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27889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 &amp; program administrator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overlaps only where GSC proves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feature pages only if validated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Case-study archives noindex if 0 traffic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automated crawl + GSC + AI digest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Day-90 review and re-prioritisation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won't do yet, what we need, how we'll measure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before irreversible moves</a:t>
            </a:r>
            <a:endParaRPr lang="en-US" sz="1500" dirty="0"/>
          </a:p>
        </p:txBody>
      </p:sp>
      <p:sp>
        <p:nvSpPr>
          <p:cNvPr id="5" name="nb0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(validate first)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or redirect the ~190 generic service pages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products to a new /products/ URL folder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captive pages or service overlaps</a:t>
            </a:r>
            <a:endParaRPr lang="en-US" sz="1400" dirty="0"/>
          </a:p>
        </p:txBody>
      </p:sp>
      <p:sp>
        <p:nvSpPr>
          <p:cNvPr id="8" name="nb1"/>
          <p:cNvSpPr/>
          <p:nvPr/>
        </p:nvSpPr>
        <p:spPr>
          <a:xfrm>
            <a:off x="429768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DICEUS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480560" y="23774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GSC, GA4, CRM and Cloudflare log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truth table: what is sellable today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referenceable US alt-risk customer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facts (ISO / SOC status)</a:t>
            </a:r>
            <a:endParaRPr lang="en-US" sz="1400" dirty="0"/>
          </a:p>
        </p:txBody>
      </p:sp>
      <p:sp>
        <p:nvSpPr>
          <p:cNvPr id="11" name="nb2"/>
          <p:cNvSpPr/>
          <p:nvPr/>
        </p:nvSpPr>
        <p:spPr>
          <a:xfrm>
            <a:off x="804672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53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day 90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37744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23/23 product pages indexed (now 20/23)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in-content links: median 24 to 60+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share of voice: 2/16 to 5/16+ (Claude)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published product reviews (now 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Alt-risk impressions and demos vs baseline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step: fix three tags this week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make products the strongest pages on diceus.com, and make DICEUS the answer for captive and RRG software in search and AI.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CEUS Strategy">
  <a:themeElements>
    <a:clrScheme name="DICEUS Strategy">
      <a:dk1>
        <a:srgbClr val="111827"/>
      </a:dk1>
      <a:lt1>
        <a:srgbClr val="FFFFFF"/>
      </a:lt1>
      <a:dk2>
        <a:srgbClr val="14213D"/>
      </a:dk2>
      <a:lt2>
        <a:srgbClr val="EEF2F7"/>
      </a:lt2>
      <a:accent1>
        <a:srgbClr val="14213D"/>
      </a:accent1>
      <a:accent2>
        <a:srgbClr val="0F9D8A"/>
      </a:accent2>
      <a:accent3>
        <a:srgbClr val="E4572E"/>
      </a:accent3>
      <a:accent4>
        <a:srgbClr val="F2A541"/>
      </a:accent4>
      <a:accent5>
        <a:srgbClr val="6B7A99"/>
      </a:accent5>
      <a:accent6>
        <a:srgbClr val="9AA5B8"/>
      </a:accent6>
      <a:hlink>
        <a:srgbClr val="0F9D8A"/>
      </a:hlink>
      <a:folHlink>
        <a:srgbClr val="6B7A99"/>
      </a:folHlink>
    </a:clrScheme>
    <a:fontScheme name="DICEUS Strateg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DICEUS - SEO &amp; AI Search plan</dc:title>
  <dc:subject>PptxGenJS Presentation</dc:subject>
  <dc:creator>Senior Technical SEO &amp; AI Search candidate</dc:creator>
  <cp:lastModifiedBy>Senior Technical SEO &amp; AI Search candidate</cp:lastModifiedBy>
  <cp:revision>1</cp:revision>
  <dcterms:created xsi:type="dcterms:W3CDTF">2026-10-07T11:36:23Z</dcterms:created>
  <dcterms:modified xsi:type="dcterms:W3CDTF">2026-10-07T11:36:23Z</dcterms:modified>
</cp:coreProperties>
</file>